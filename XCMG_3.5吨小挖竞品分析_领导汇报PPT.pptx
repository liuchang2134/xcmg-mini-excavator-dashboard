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57200"/>
            <a:ext cx="105156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400" b="1">
                <a:solidFill>
                  <a:srgbClr val="F5B400"/>
                </a:solidFill>
                <a:latin typeface="Microsoft YaHei"/>
              </a:defRPr>
            </a:pPr>
            <a:r>
              <a:t>XCMG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143000"/>
            <a:ext cx="6858000" cy="59436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3.5吨级小挖竞品分析汇报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47088"/>
            <a:ext cx="6858000" cy="3200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200" b="0">
                <a:solidFill>
                  <a:srgbClr val="D9E6F2"/>
                </a:solidFill>
                <a:latin typeface="Microsoft YaHei"/>
              </a:defRPr>
            </a:pPr>
            <a:r>
              <a:t>以常见工况为主线，对比竞品差距，明确XCMG短期配置补强与中期产品改进方向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71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081528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F5B400"/>
                </a:solidFill>
                <a:latin typeface="Microsoft YaHei"/>
              </a:defRPr>
            </a:pPr>
            <a:r>
              <a:t>第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41071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XCMG综合排名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2971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3081528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F5B400"/>
                </a:solidFill>
                <a:latin typeface="Microsoft YaHei"/>
              </a:defRPr>
            </a:pPr>
            <a:r>
              <a:t>47.0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341071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综合得分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03320" y="2971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59" y="3081528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F5B40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6472" y="341071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分析工况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97180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3081528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F5B400"/>
                </a:solidFill>
                <a:latin typeface="Microsoft YaHei"/>
              </a:defRPr>
            </a:pPr>
            <a:r>
              <a:t>680行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41071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明细证据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681728"/>
            <a:ext cx="274320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00" b="0">
                <a:solidFill>
                  <a:srgbClr val="B8C8D8"/>
                </a:solidFill>
                <a:latin typeface="Microsoft YaHei"/>
              </a:defRPr>
            </a:pPr>
            <a:r>
              <a:t>2026-07-06 / 领导汇报版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一页结论：先进入前5，再追高端竞品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XCMG当前不是没有卖点，而是优势和短板高度分化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98448"/>
            <a:ext cx="260604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298448"/>
            <a:ext cx="54864" cy="1261872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417319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现状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682495"/>
            <a:ext cx="2350008" cy="804671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XCMG综合47.0分，第7；距第6斗山仅1.1分，距第5山猫5.2分。短期目标应先超过斗山、进入前5，而不是直接追沃尔沃。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298448"/>
            <a:ext cx="260604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298448"/>
            <a:ext cx="54864" cy="1261872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417319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优势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682495"/>
            <a:ext cx="2350008" cy="804671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沟槽/基础深挖第3；破碎/多属具配置贡献16.0分第1。销售应先打深挖、辅具、快换场景，而不是全面硬碰硬。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298448"/>
            <a:ext cx="2606040" cy="1261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298448"/>
            <a:ext cx="54864" cy="126187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417319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短板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682495"/>
            <a:ext cx="2350008" cy="804671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狭窄空间第9、租赁转场第10；差距主要来自动臂偏摆、运输长度、操作重量、行走速度等硬参数。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813816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880360"/>
            <a:ext cx="54864" cy="1051560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2999232"/>
            <a:ext cx="78821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打法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3264408"/>
            <a:ext cx="7882128" cy="59435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短期补配置包：后视摄像头、坡度系统、推土铲浮动、自动停机、远程信息标配化。中期进入研发：AUX压力/流量、接地比压、整机布置。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综合竞争排名：XCMG处于中游下沿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排序基于六类常见工况加权评分，覆盖率同步纳入判断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133856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1. 沃尔沃 EC37</a:t>
            </a:r>
          </a:p>
        </p:txBody>
      </p:sp>
      <p:sp>
        <p:nvSpPr>
          <p:cNvPr id="7" name="Rectangle 6"/>
          <p:cNvSpPr/>
          <p:nvPr/>
        </p:nvSpPr>
        <p:spPr>
          <a:xfrm>
            <a:off x="2075688" y="1143000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075688" y="1143000"/>
            <a:ext cx="5074920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14616" y="1124712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57.8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9248" y="1124712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444752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2. 现代 HX35AZ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75688" y="1453896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075688" y="1453896"/>
            <a:ext cx="5048579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14616" y="1435608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57.5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9248" y="1435608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3. 迪尔 35P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075688" y="1764792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075688" y="1764792"/>
            <a:ext cx="4793955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14616" y="1746504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54.6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9248" y="1746504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2066544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4. 卡特 303.5CR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75688" y="2075688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75688" y="2075688"/>
            <a:ext cx="4583232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14616" y="2057400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52.2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9248" y="2057400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377440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5. 山猫 E35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75688" y="2386584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075688" y="2386584"/>
            <a:ext cx="4583232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14616" y="2368296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52.2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9248" y="2368296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2688336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6. 斗山 DX35Z-7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75688" y="2697480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075688" y="2697480"/>
            <a:ext cx="4223246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14616" y="2679192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48.1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99248" y="2679192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2999232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7. XCMG XE35U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075688" y="3008376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75688" y="3008376"/>
            <a:ext cx="4126665" cy="146304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14616" y="2990088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47.0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9248" y="2990088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310128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8. 久保田 KX033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075688" y="3319272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75688" y="3319272"/>
            <a:ext cx="4047643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14616" y="3300984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46.1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99248" y="3300984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3621024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9. 三一 SY35U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75688" y="3630168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075688" y="3630168"/>
            <a:ext cx="3836920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14616" y="3611880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43.7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3611880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3931920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10. 久保田 U35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075688" y="3941064"/>
            <a:ext cx="507492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75688" y="3941064"/>
            <a:ext cx="3696438" cy="146304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14616" y="3922776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42.1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699248" y="3922776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中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20840" y="1143000"/>
            <a:ext cx="1828800" cy="1143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720840" y="1143000"/>
            <a:ext cx="54864" cy="114300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67144" y="1261872"/>
            <a:ext cx="157276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解读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67144" y="1527048"/>
            <a:ext cx="1572768" cy="68580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XCMG与第6斗山仅差1.1分，短期追赶空间明确；但与第一沃尔沃差10.8分，说明不能只靠单一配置，需要工况组合补强。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720840" y="2514600"/>
            <a:ext cx="1828800" cy="12344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720840" y="2514600"/>
            <a:ext cx="54864" cy="1234440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67144" y="2633472"/>
            <a:ext cx="157276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优先目标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67144" y="2898648"/>
            <a:ext cx="1572768" cy="7772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把综合分从47.0提升到52.0以上：土方短循环补3-8分，租赁补10分左右，狭窄空间补9分配置项。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六类工况表现：优势不弱，短板很集中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不要平均用力，先用工况分层决定销售和研发优先级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606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" cy="96012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61872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沟槽/基础深挖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527048"/>
            <a:ext cx="235000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第3 / 55.8\n判断：主攻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143000"/>
            <a:ext cx="2606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143000"/>
            <a:ext cx="54864" cy="96012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1261872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破碎/多属具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1527048"/>
            <a:ext cx="235000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第5 / 51.4\n判断：有卖点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43000"/>
            <a:ext cx="2606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43000"/>
            <a:ext cx="54864" cy="96012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4" y="1261872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土方短循环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1527048"/>
            <a:ext cx="235000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第6 / 56.5\n判断：需补效率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441448"/>
            <a:ext cx="2606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441448"/>
            <a:ext cx="54864" cy="96012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" y="2560320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坡地/软土/吊装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" y="2825496"/>
            <a:ext cx="235000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第5 / 52.9\n判断：补稳定证据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37560" y="2441448"/>
            <a:ext cx="2606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37560" y="2441448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3864" y="2560320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狭窄空间/市政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83864" y="2825496"/>
            <a:ext cx="235000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第9 / 28.0\n判断：短板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441448"/>
            <a:ext cx="260604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2200" y="2441448"/>
            <a:ext cx="54864" cy="9601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18504" y="2560320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租赁/快速转场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18504" y="2825496"/>
            <a:ext cx="235000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第10 / 29.2\n判断：短板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886200"/>
            <a:ext cx="8138160" cy="5029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3886200"/>
            <a:ext cx="54864" cy="50292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" y="4005072"/>
            <a:ext cx="78821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组合策略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" y="4270248"/>
            <a:ext cx="7882128" cy="457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销售优先讲深挖和多属具；短板场景用选配包和适用边界管理；研发优先处理运输尺寸、液压辅具、接地比压。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差距闭环：配置包先补分，硬参数进研发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把“建议”落到能提升多少分、追到哪个竞品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143000"/>
            <a:ext cx="26060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4864" cy="1874519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261872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短期：配置补分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1527048"/>
            <a:ext cx="2350008" cy="141731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后视摄像头选配 +4.8；坡度系统选配 +4.2；推土铲浮动标配 +3.0；自动停机标配 +7.0；远程信息标配 +3.2。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73552" y="1143000"/>
            <a:ext cx="26060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73552" y="1143000"/>
            <a:ext cx="54864" cy="1874519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261872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中期：硬参数追赶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527048"/>
            <a:ext cx="2350008" cy="141731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动臂偏摆、运输长度、操作重量、行走速度、AUX1压力/流量、铲斗挖掘力、接地比压。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143000"/>
            <a:ext cx="2606040" cy="1874519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143000"/>
            <a:ext cx="54864" cy="1874519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1344" y="1261872"/>
            <a:ext cx="23500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证据：实测补强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527048"/>
            <a:ext cx="2350008" cy="141731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补三组数据：短循环装车秒数/方量/油耗；辅具换装时间/兼容清单；吊载表/软土工况稳定性。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429000"/>
            <a:ext cx="822960" cy="1828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00" b="1">
                <a:solidFill>
                  <a:srgbClr val="002B55"/>
                </a:solidFill>
                <a:latin typeface="Microsoft YaHei"/>
              </a:defRPr>
            </a:pPr>
            <a:r>
              <a:t>目标路径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447288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当前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23160" y="3456432"/>
            <a:ext cx="521208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423160" y="3456432"/>
            <a:ext cx="4082796" cy="146304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99248" y="3438144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47.0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3831336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第一阶段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23160" y="3840480"/>
            <a:ext cx="521208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23160" y="3840480"/>
            <a:ext cx="4178350" cy="146304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99248" y="3822192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48.1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3822192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超过斗山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215384"/>
            <a:ext cx="1325880" cy="173736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第二阶段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224528"/>
            <a:ext cx="5212080" cy="146304"/>
          </a:xfrm>
          <a:prstGeom prst="rect">
            <a:avLst/>
          </a:prstGeom>
          <a:solidFill>
            <a:srgbClr val="E4EC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423160" y="4224528"/>
            <a:ext cx="4517136" cy="146304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4206240"/>
            <a:ext cx="45720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50" b="1">
                <a:solidFill>
                  <a:srgbClr val="17212B"/>
                </a:solidFill>
                <a:latin typeface="Microsoft YaHei"/>
              </a:defRPr>
            </a:pPr>
            <a:r>
              <a:t>52.0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206240"/>
            <a:ext cx="7772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5B6B7C"/>
                </a:solidFill>
                <a:latin typeface="Microsoft YaHei"/>
              </a:defRPr>
            </a:pPr>
            <a:r>
              <a:t>进入前5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狭窄空间：对标迪尔，差在偏摆和运输长度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短期靠安全配置补到中游，长期要改整机布置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C0392B"/>
                </a:solidFill>
                <a:latin typeface="Microsoft YaHei"/>
              </a:defRPr>
            </a:pPr>
            <a:r>
              <a:t>28.0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XCMG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1F8A4C"/>
                </a:solidFill>
                <a:latin typeface="Microsoft YaHei"/>
              </a:defRPr>
            </a:pPr>
            <a:r>
              <a:t>66.3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迪尔35P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C0392B"/>
                </a:solidFill>
                <a:latin typeface="Microsoft YaHei"/>
              </a:defRPr>
            </a:pPr>
            <a:r>
              <a:t>38.3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差距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130552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动臂偏摆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0552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125度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30552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迪尔 258度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30552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贡献差16.9分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50592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2523744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运输长度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23744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4960mm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23744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迪尔 4640mm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23744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贡献差11.4分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43784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916936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尾部回转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916936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870mm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16936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迪尔 870mm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16936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持平，不是短板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56432"/>
            <a:ext cx="7909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456432"/>
            <a:ext cx="54864" cy="749808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575303"/>
            <a:ext cx="76535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弥补路径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3840480"/>
            <a:ext cx="7653528" cy="29260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短期：后视摄像头选配+4.8、坡度系统选配+4.2，工况分约从28.0到37.0；中期：运输长度压到4800mm以内，偏摆机构升级。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沟槽深挖：当前最接近突破的工况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XCMG第3，只差三一1.6分，长斗杆是最快补分项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D49A00"/>
                </a:solidFill>
                <a:latin typeface="Microsoft YaHei"/>
              </a:defRPr>
            </a:pPr>
            <a:r>
              <a:t>55.8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XCMG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D49A00"/>
                </a:solidFill>
                <a:latin typeface="Microsoft YaHei"/>
              </a:defRPr>
            </a:pPr>
            <a:r>
              <a:t>57.4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三一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1F8A4C"/>
                </a:solidFill>
                <a:latin typeface="Microsoft YaHei"/>
              </a:defRPr>
            </a:pPr>
            <a:r>
              <a:t>85.5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斗山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130552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最大挖深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0552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3060mm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30552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斗山 3275mm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30552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贡献差12.9分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50592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2523744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长斗杆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23744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23744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斗山 选配1500mm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23744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贡献差4.8分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43784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916936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卸载高度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916936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3600mm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16936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斗山 3580mm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16936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XCMG略强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56432"/>
            <a:ext cx="7909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456432"/>
            <a:ext cx="54864" cy="749808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575303"/>
            <a:ext cx="76535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弥补路径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3840480"/>
            <a:ext cx="7653528" cy="29260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先上线长斗杆选配，理论从55.8提升到60.6，超过三一并稳住第2；中期挖深向3200mm靠近，继续缩小与斗山差距。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土方短循环：差在挖掘力和功率匹配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配置能补一部分，但核心仍是效率参数和实测节拍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D49A00"/>
                </a:solidFill>
                <a:latin typeface="Microsoft YaHei"/>
              </a:defRPr>
            </a:pPr>
            <a:r>
              <a:t>56.5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XCMG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D49A00"/>
                </a:solidFill>
                <a:latin typeface="Microsoft YaHei"/>
              </a:defRPr>
            </a:pPr>
            <a:r>
              <a:t>64.8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久保田U35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1F8A4C"/>
                </a:solidFill>
                <a:latin typeface="Microsoft YaHei"/>
              </a:defRPr>
            </a:pPr>
            <a:r>
              <a:t>84.1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沃尔沃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130552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铲斗挖掘力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0552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28.6kN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30552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沃尔沃 35.5kN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30552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贡献差13.6分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50592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2523744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发动机功率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23744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18.2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23744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沃尔沃 18.5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23744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贡献差9.0分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43784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916936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推土铲浮动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916936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16936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沃尔沃 选配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16936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贡献差1.8分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56432"/>
            <a:ext cx="7909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456432"/>
            <a:ext cx="54864" cy="749808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575303"/>
            <a:ext cx="76535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弥补路径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3840480"/>
            <a:ext cx="7653528" cy="29260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短期把推土铲浮动做成短循环效率包，标配可+3.0分；同时补装车循环秒数、每小时方量、单位油耗，目标进入60-65分。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破碎/多属具：配置强，但液压AUX参数拖后腿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不是卖点不存在，而是证据和液压能力需要补齐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1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D49A00"/>
                </a:solidFill>
                <a:latin typeface="Microsoft YaHei"/>
              </a:defRPr>
            </a:pPr>
            <a:r>
              <a:t>51.4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1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XCMG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D49A00"/>
                </a:solidFill>
                <a:latin typeface="Microsoft YaHei"/>
              </a:defRPr>
            </a:pPr>
            <a:r>
              <a:t>55.3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2199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三一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1097280"/>
            <a:ext cx="141732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207007"/>
            <a:ext cx="123444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1900" b="1">
                <a:solidFill>
                  <a:srgbClr val="1F8A4C"/>
                </a:solidFill>
                <a:latin typeface="Microsoft YaHei"/>
              </a:defRPr>
            </a:pPr>
            <a:r>
              <a:t>81.3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30752" y="1536192"/>
            <a:ext cx="1271016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ctr">
              <a:defRPr sz="720" b="0">
                <a:solidFill>
                  <a:srgbClr val="5B6B7C"/>
                </a:solidFill>
                <a:latin typeface="Microsoft YaHei"/>
              </a:defRPr>
            </a:pPr>
            <a:r>
              <a:t>现代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2057400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1" y="2130552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AUX1压力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2130552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18MPa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130552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现代 26MPa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130552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贡献差14.0分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2450592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1" y="2523744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AUX1流量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2523744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2523744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现代 60.5L/min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2523744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贡献差10.5分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2843784"/>
            <a:ext cx="7955279" cy="310896"/>
          </a:xfrm>
          <a:prstGeom prst="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2916936"/>
            <a:ext cx="16002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40" b="1">
                <a:solidFill>
                  <a:srgbClr val="002B55"/>
                </a:solidFill>
                <a:latin typeface="Microsoft YaHei"/>
              </a:defRPr>
            </a:pPr>
            <a:r>
              <a:t>快换管路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2916936"/>
            <a:ext cx="182880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XCMG 标配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2916936"/>
            <a:ext cx="1874519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0">
                <a:solidFill>
                  <a:srgbClr val="17212B"/>
                </a:solidFill>
                <a:latin typeface="Microsoft YaHei"/>
              </a:defRPr>
            </a:pPr>
            <a:r>
              <a:t>现代 标配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2916936"/>
            <a:ext cx="16459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720" b="1">
                <a:solidFill>
                  <a:srgbClr val="C0392B"/>
                </a:solidFill>
                <a:latin typeface="Microsoft YaHei"/>
              </a:defRPr>
            </a:pPr>
            <a:r>
              <a:t>持平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456432"/>
            <a:ext cx="7909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3456432"/>
            <a:ext cx="54864" cy="749808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3575303"/>
            <a:ext cx="76535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弥补路径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" y="3840480"/>
            <a:ext cx="7653528" cy="29260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短期：补辅具兼容清单和换装时间，先超过三一55.3；中期：AUX1压力接近26MPa、流量接近60L/min，才有资格追现代。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稳定与租赁：硬参数决定客户边界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这两类工况要明确适用边界，不宜只靠宣传话术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38404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864" cy="1463040"/>
          </a:xfrm>
          <a:prstGeom prst="rect">
            <a:avLst/>
          </a:prstGeom>
          <a:solidFill>
            <a:srgbClr val="D49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61872"/>
            <a:ext cx="358444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坡地/软土/吊装：对标卡特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27048"/>
            <a:ext cx="3584448" cy="10058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52.9，卡特73.0，差20.1。最大差距是接地比压：XCMG 35.3 vs 卡特29.6，贡献差14.5分；副配重不是短板，低接地比压才是关键。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143000"/>
            <a:ext cx="3840480" cy="14630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1143000"/>
            <a:ext cx="54864" cy="1463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64024" y="1261872"/>
            <a:ext cx="358444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租赁/转场：对标迪尔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64024" y="1527048"/>
            <a:ext cx="3584448" cy="100584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XCMG 29.2，迪尔67.8，差38.6。运输长度4960 vs 4640mm、操作重量4200 vs 3736.5kg、行走速度3.6 vs 4.3km/h，是租赁短板。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71800"/>
            <a:ext cx="7909560" cy="9601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971800"/>
            <a:ext cx="54864" cy="960120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" y="3090672"/>
            <a:ext cx="765352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弥补路径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3355848"/>
            <a:ext cx="7653528" cy="50292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稳定：宽履带/软土履带和吊载表先补证据；租赁：自动停机标配+7.0、远程信息标配+3.2，先接近三一40.8分。硬件侧推进轻量化和高速行走。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498079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400" b="1">
                <a:solidFill>
                  <a:srgbClr val="002B55"/>
                </a:solidFill>
                <a:latin typeface="Microsoft YaHei"/>
              </a:defRPr>
            </a:pPr>
            <a:r>
              <a:t>建议形成三套XCMG配置包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86384"/>
            <a:ext cx="777240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950" b="0">
                <a:solidFill>
                  <a:srgbClr val="5B6B7C"/>
                </a:solidFill>
                <a:latin typeface="Microsoft YaHei"/>
              </a:defRPr>
            </a:pPr>
            <a:r>
              <a:t>把分散配置变成可销售、可报价、可复盘的产品动作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658368" cy="36576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58200" y="4709160"/>
            <a:ext cx="320040" cy="16459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r">
              <a:defRPr sz="900" b="1">
                <a:solidFill>
                  <a:srgbClr val="5B6B7C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143000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143000"/>
            <a:ext cx="54864" cy="1325880"/>
          </a:xfrm>
          <a:prstGeom prst="rect">
            <a:avLst/>
          </a:prstGeom>
          <a:solidFill>
            <a:srgbClr val="00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261872"/>
            <a:ext cx="225856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市政安全包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1527048"/>
            <a:ext cx="2258568" cy="8686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后视摄像头、坡度系统、狭窄空间操作提示。目标：狭窄空间+9.0分，接近现代38.0分。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1143000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143000"/>
            <a:ext cx="54864" cy="1325880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261872"/>
            <a:ext cx="225856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短循环效率包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1527048"/>
            <a:ext cx="2258568" cy="8686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经济模式、自动怠速、推土铲浮动、装车节拍测试。目标：土方从56.5提升到60-65分。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143000"/>
            <a:ext cx="251460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0760" y="1143000"/>
            <a:ext cx="54864" cy="1325880"/>
          </a:xfrm>
          <a:prstGeom prst="rect">
            <a:avLst/>
          </a:prstGeom>
          <a:solidFill>
            <a:srgbClr val="1F8A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1261872"/>
            <a:ext cx="225856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租赁通用包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7064" y="1527048"/>
            <a:ext cx="2258568" cy="8686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快换、自动停机、远程信息标配、保养便利卡。目标：租赁从29.2提升到39.4左右。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71800"/>
            <a:ext cx="804672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2971800"/>
            <a:ext cx="54864" cy="8686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090672"/>
            <a:ext cx="779068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研发清单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355848"/>
            <a:ext cx="7790688" cy="411479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动臂偏摆、运输长度、操作重量、AUX1压力/流量、铲斗挖掘力、接地比压。每一项都对应明确竞品差距。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28032"/>
            <a:ext cx="7589520" cy="146304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680" b="0">
                <a:solidFill>
                  <a:srgbClr val="7A8794"/>
                </a:solidFill>
                <a:latin typeface="Microsoft YaHei"/>
              </a:defRPr>
            </a:pPr>
            <a:r>
              <a:t>数据源：3-4.xlsx / 小挖常见工况竞品量化评分.xlsx；口径：常见工况评分 + 标选配贡献 + 数据覆盖率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B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94360"/>
            <a:ext cx="5943600" cy="411480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需要领导决策的三件事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54864" cy="658368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536192"/>
            <a:ext cx="76078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1. 是否立项配置包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801368"/>
            <a:ext cx="7607808" cy="20116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市政安全包、短循环效率包、租赁通用包是否进入报价和样机配置。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286000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286000"/>
            <a:ext cx="54864" cy="658368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2404872"/>
            <a:ext cx="76078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2. 是否安排实测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670048"/>
            <a:ext cx="7607808" cy="20116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装车节拍、辅具换装、吊载/软土稳定三组实测是否安排样机验证。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154680"/>
            <a:ext cx="786384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54680"/>
            <a:ext cx="54864" cy="658368"/>
          </a:xfrm>
          <a:prstGeom prst="rect">
            <a:avLst/>
          </a:prstGeom>
          <a:solidFill>
            <a:srgbClr val="F5B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273552"/>
            <a:ext cx="7607808" cy="201168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050" b="1">
                <a:solidFill>
                  <a:srgbClr val="002B55"/>
                </a:solidFill>
                <a:latin typeface="Microsoft YaHei"/>
              </a:defRPr>
            </a:pPr>
            <a:r>
              <a:t>3. 是否进入产品改进清单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538728"/>
            <a:ext cx="7607808" cy="201167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860" b="0">
                <a:solidFill>
                  <a:srgbClr val="17212B"/>
                </a:solidFill>
                <a:latin typeface="Microsoft YaHei"/>
              </a:defRPr>
            </a:pPr>
            <a:r>
              <a:t>运输长度、偏摆、AUX压力/流量、接地比压、轻量化是否进入中期研发任务。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4343400"/>
            <a:ext cx="6217920" cy="256032"/>
          </a:xfrm>
          <a:prstGeom prst="rect">
            <a:avLst/>
          </a:prstGeom>
          <a:noFill/>
        </p:spPr>
        <p:txBody>
          <a:bodyPr wrap="none" lIns="18288" rIns="18288" tIns="9144" bIns="9144" anchor="t">
            <a:spAutoFit/>
          </a:bodyPr>
          <a:lstStyle/>
          <a:p>
            <a:pPr algn="l">
              <a:defRPr sz="1300" b="1">
                <a:solidFill>
                  <a:srgbClr val="D9E6F2"/>
                </a:solidFill>
                <a:latin typeface="Microsoft YaHei"/>
              </a:defRPr>
            </a:pPr>
            <a:r>
              <a:t>目标：短期进入前5，中期形成可证明的工况竞争力。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